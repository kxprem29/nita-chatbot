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e237c3166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e237c3166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e237c3166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e237c3166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e237c316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e237c316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237c316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237c316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237c3166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e237c3166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e237c3166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e237c3166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237c3166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237c3166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237c3166_4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237c3166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237c316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e237c316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237c3166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237c3166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237c3166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237c3166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237c3166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e237c3166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e237c316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e237c316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e237c3166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e237c3166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237c3166_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e237c3166_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e237c3166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e237c3166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533" y="0"/>
            <a:ext cx="9414932" cy="529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581875"/>
            <a:ext cx="7688700" cy="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7650" y="1453425"/>
            <a:ext cx="7688700" cy="3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31314"/>
                </a:solidFill>
                <a:latin typeface="Arial"/>
                <a:ea typeface="Arial"/>
                <a:cs typeface="Arial"/>
                <a:sym typeface="Arial"/>
              </a:rPr>
              <a:t>The RAG-Based Chatbot is an AI-driven system designed specifically for NIT Agartala to simplify access to institutional information.</a:t>
            </a:r>
            <a:endParaRPr sz="15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31314"/>
                </a:solidFill>
                <a:latin typeface="Arial"/>
                <a:ea typeface="Arial"/>
                <a:cs typeface="Arial"/>
                <a:sym typeface="Arial"/>
              </a:rPr>
              <a:t>It retrieves verified data from the institute’s website and generates accurate and context-aware answers for the user queries.</a:t>
            </a:r>
            <a:endParaRPr sz="15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31314"/>
                </a:solidFill>
                <a:latin typeface="Arial"/>
                <a:ea typeface="Arial"/>
                <a:cs typeface="Arial"/>
                <a:sym typeface="Arial"/>
              </a:rPr>
              <a:t>Finding institutional information manually across multiple webpages and PDF notices is often time-consuming.</a:t>
            </a:r>
            <a:endParaRPr sz="15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31314"/>
                </a:solidFill>
                <a:latin typeface="Arial"/>
                <a:ea typeface="Arial"/>
                <a:cs typeface="Arial"/>
                <a:sym typeface="Arial"/>
              </a:rPr>
              <a:t>This chatbot overcomes these retrieval challenges by integrating vector database search with generative AI.</a:t>
            </a:r>
            <a:endParaRPr sz="15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7650" y="56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7650" y="1441200"/>
            <a:ext cx="7629300" cy="3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NIT Agartala currently lacks a centralized, intelligent interface to access institutional information efficiently.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data for students and faculty is scattered across several sections, PDFs, and links on the official website.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are forced to manually browse and search through multiple pages to find specific details, which is a time-consuming and inefficient process.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need for AI powered assistant that can understand natural queries, retrieve accurate information from official sources and provide reliable responses, not hallucinations.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7650" y="56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7650" y="1451700"/>
            <a:ext cx="7653000" cy="3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solve the problem of scattered institutional information at NIT Agartala by creating a single intelligent platform that retrieves accurate data from official sources, reducing the need to manually browse multiple 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pages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documents.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develop a domain-specific RAG-based chatbot that delivers factual, context-aware, and verifiable responses, addressing the limitations and hallucination issues of general-purpose LLMs.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encourage digital transformation inside the institute by introducing an AI-driven system that modernizes how students and faculty interact with institutional information.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5822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</a:t>
            </a:r>
            <a:r>
              <a:rPr lang="en-GB"/>
              <a:t>nformation Retrieval Methods: A Comparative View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1352775"/>
            <a:ext cx="7688700" cy="29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Scenario: </a:t>
            </a:r>
            <a:endParaRPr b="1" sz="17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Urgent need to retrieve Chief Information Security Officer (CISO) contact details.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evaluate how three search methods perform: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Google Search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Institute Website Navigation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Chatbot Response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577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Retrieval Methods: A Comparative View</a:t>
            </a:r>
            <a:endParaRPr/>
          </a:p>
        </p:txBody>
      </p:sp>
      <p:pic>
        <p:nvPicPr>
          <p:cNvPr id="123" name="Google Shape;123;p18" title="google bha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3500" y="1721275"/>
            <a:ext cx="7156998" cy="330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1099150" y="1287300"/>
            <a:ext cx="446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31314"/>
                </a:solidFill>
                <a:latin typeface="Lato"/>
                <a:ea typeface="Lato"/>
                <a:cs typeface="Lato"/>
                <a:sym typeface="Lato"/>
              </a:rPr>
              <a:t>Method 1: Retrieving Information via Google Search</a:t>
            </a:r>
            <a:endParaRPr b="1" sz="1300">
              <a:solidFill>
                <a:srgbClr val="13131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7650" y="570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Retrieval Methods: A Comparative View</a:t>
            </a:r>
            <a:endParaRPr/>
          </a:p>
        </p:txBody>
      </p:sp>
      <p:pic>
        <p:nvPicPr>
          <p:cNvPr id="131" name="Google Shape;131;p19" title="cropped int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500" y="1714500"/>
            <a:ext cx="6992227" cy="321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1058025" y="1268675"/>
            <a:ext cx="6451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Lato"/>
                <a:ea typeface="Lato"/>
                <a:cs typeface="Lato"/>
                <a:sym typeface="Lato"/>
              </a:rPr>
              <a:t>Method 2: Browsing the Institute Website to Access CISO Detail</a:t>
            </a:r>
            <a:endParaRPr b="1"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7650" y="570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Retrieval Methods: A Comparative View</a:t>
            </a:r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150" y="1679025"/>
            <a:ext cx="6966751" cy="3289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 txBox="1"/>
          <p:nvPr/>
        </p:nvSpPr>
        <p:spPr>
          <a:xfrm>
            <a:off x="1088200" y="1285425"/>
            <a:ext cx="588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31314"/>
                </a:solidFill>
                <a:latin typeface="Lato"/>
                <a:ea typeface="Lato"/>
                <a:cs typeface="Lato"/>
                <a:sym typeface="Lato"/>
              </a:rPr>
              <a:t>Method 2: Browsing the Institute Website to Access CISO Detail</a:t>
            </a:r>
            <a:endParaRPr b="1" sz="1300">
              <a:solidFill>
                <a:srgbClr val="13131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3131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7650" y="570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 Retrieval Methods: A Comparative View</a:t>
            </a:r>
            <a:endParaRPr/>
          </a:p>
        </p:txBody>
      </p:sp>
      <p:pic>
        <p:nvPicPr>
          <p:cNvPr id="147" name="Google Shape;147;p21" title="bot bha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487" y="1618200"/>
            <a:ext cx="7372874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1093775" y="1254938"/>
            <a:ext cx="71703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31314"/>
                </a:solidFill>
                <a:latin typeface="Lato"/>
                <a:ea typeface="Lato"/>
                <a:cs typeface="Lato"/>
                <a:sym typeface="Lato"/>
              </a:rPr>
              <a:t>Method 3: Retrieving Information via Chatbot Response</a:t>
            </a:r>
            <a:endParaRPr b="1" sz="1300">
              <a:solidFill>
                <a:srgbClr val="13131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27650" y="555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 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00" y="1318550"/>
            <a:ext cx="6327798" cy="35222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</a:t>
            </a: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2690100" y="4749850"/>
            <a:ext cx="3763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highlight>
                  <a:schemeClr val="lt1"/>
                </a:highlight>
              </a:rPr>
              <a:t>Figure 1: System Architecture </a:t>
            </a:r>
            <a:r>
              <a:rPr b="1" lang="en-GB" sz="1300">
                <a:solidFill>
                  <a:schemeClr val="dk2"/>
                </a:solidFill>
                <a:highlight>
                  <a:schemeClr val="lt1"/>
                </a:highlight>
              </a:rPr>
              <a:t>Diagram</a:t>
            </a:r>
            <a:endParaRPr b="1" sz="13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729450" y="569600"/>
            <a:ext cx="7688700" cy="6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Query Processing Flow</a:t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729450" y="1404125"/>
            <a:ext cx="7688700" cy="33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 Query: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 enters a natural-language query in the Streamlit interface.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Rewriting: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Gemini rewrites the query to enhance clarity and retrieval accuracy.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Vector Retrieval: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Rewritten query is embedded and used to retrieve top-k relevant chunks from AstraDB.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Context Assembly: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Retrieved chunks are merged into a coherent context block.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Response Generation: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Gemini generates an answer strictly using the retrieved context and original query.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b="1"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Display: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Final answer is shown in the Streamlit UI, completing the RAG cycle.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727650" y="577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Pipeline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449" y="1366200"/>
            <a:ext cx="6533652" cy="3084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11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3046200" y="4595650"/>
            <a:ext cx="470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Figure 2: Data Extraction Pipeline</a:t>
            </a:r>
            <a:endParaRPr b="1"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729450" y="56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Embedding</a:t>
            </a:r>
            <a:r>
              <a:rPr lang="en-GB"/>
              <a:t> and Vector Storage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727650" y="1299250"/>
            <a:ext cx="7688700" cy="3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the HuggingFace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all-MiniLM-L6-v2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embedding model to convert text into meaningful numerical vectors.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generated vectors are stored in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AstraDB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vector database, which is designed for fast and efficient similarity search.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cleaned institutional documents are first split into smaller chunks for better processing.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embedding model transforms each chunk into a semantic vector that captures the actual meaning of the text.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AstraDB quickly finds the most similar vectors whenever a user asks a question, helping the system fetch the most relevant information.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29450" y="582200"/>
            <a:ext cx="76887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729450" y="1342050"/>
            <a:ext cx="7688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Improvement: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implementation of Query Rewriting increased the system's accuracy from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82.75%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94.25%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200 test queries.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Hallucination Prevention: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successfully eliminates fabrication by strictly refusing to answer questions that fall outside the provided institutional context.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Performance: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chatbot achieves an average response latency of 2-6 seconds, supported by sub-second vector retrieval speeds from AstraDB.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Qualitative Reliability: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Testing across administrative and academic queries confirmed that responses are consistently accurate and grounded solely in official NITA data.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729450" y="548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727650" y="1427675"/>
            <a:ext cx="7688700" cy="32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project delivers a reliable RAG-based chatbot for NIT Agartala using 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HuggingFace’s all-MiniLM-L6-v2</a:t>
            </a:r>
            <a:r>
              <a:rPr lang="en-GB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embedding model, AstraDB vector storage and Google Gemini to generate accurate and verified responses.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1314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31314"/>
                </a:solidFill>
                <a:latin typeface="Arial"/>
                <a:ea typeface="Arial"/>
                <a:cs typeface="Arial"/>
                <a:sym typeface="Arial"/>
              </a:rPr>
              <a:t>Query rewriting and semantic retrieval improve answer accuracy and relevance, proving the effectiveness of RAG systems for institutional information access.</a:t>
            </a:r>
            <a:endParaRPr sz="15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creates a solid base for future enhancements like multilingual support, voice interaction and automated updates to make information more accessible.</a:t>
            </a:r>
            <a:endParaRPr sz="1700">
              <a:solidFill>
                <a:srgbClr val="13131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727650" y="561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Scope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757350" y="1335500"/>
            <a:ext cx="7629300" cy="35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Multi-Lingual Support: 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Adding support for Indian regional languages to enhance accessibility for non-English users. Utilizing translation APIs or fine-tuned multilingual LLMs to ensure accurate query processing.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Interface Integration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Integrating Automatic Speech Recognition systems to convert spoken queries into text for processing and 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TTS feature to provide verbal 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Data Updates: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Developing an automated web crawler to periodically scan the NIT Agartala website for new or updated content. Ensuring content modifications are immediately reflected in responses.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idx="4294967295" type="title"/>
          </p:nvPr>
        </p:nvSpPr>
        <p:spPr>
          <a:xfrm>
            <a:off x="729300" y="2036550"/>
            <a:ext cx="7688700" cy="11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6000"/>
              <a:t>Thank you</a:t>
            </a:r>
            <a:endParaRPr sz="6000"/>
          </a:p>
        </p:txBody>
      </p:sp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